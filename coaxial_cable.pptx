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C8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65776"/>
            <a:ext cx="9144000" cy="73152"/>
          </a:xfrm>
          <a:prstGeom prst="rect">
            <a:avLst/>
          </a:prstGeom>
          <a:solidFill>
            <a:srgbClr val="E8C8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C84A"/>
                </a:solidFill>
              </a:rPr>
              <a:t>Компьютерные сети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Толстый коаксиальный кабель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C3F7"/>
                </a:solidFill>
              </a:rPr>
              <a:t>Стандарт 10BASE5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063240"/>
            <a:ext cx="2743200" cy="3657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EC5"/>
                </a:solidFill>
              </a:rPr>
              <a:t>Выполнил: Воцуев Салах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Группа: 2П1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Дисциплина: Компьютерные сети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</a:rPr>
              <a:t>Что такое коаксиальный кабель?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36576"/>
          </a:xfrm>
          <a:prstGeom prst="rect">
            <a:avLst/>
          </a:prstGeom>
          <a:solidFill>
            <a:srgbClr val="4FC3F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05840"/>
            <a:ext cx="530352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52160" y="1005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D1B2A"/>
                </a:solidFill>
              </a:rPr>
              <a:t>Коаксиальный кабель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2B3C"/>
                </a:solidFill>
              </a:rPr>
              <a:t> — тип кабеля связи с центральным проводником, окружённым слоем диэлектрика, экранирующей оплёткой и внешней оболочкой.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19659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▸  </a:t>
            </a:r>
            <a:pPr indent="0" marL="0">
              <a:buNone/>
            </a:pPr>
            <a:r>
              <a:rPr lang="en-US" sz="1400" dirty="0">
                <a:solidFill>
                  <a:srgbClr val="1A2B3C"/>
                </a:solidFill>
              </a:rPr>
              <a:t>Изобретён в 1929–1930 гг. (AT&amp;T / Белл)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53288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▸  </a:t>
            </a:r>
            <a:pPr indent="0" marL="0">
              <a:buNone/>
            </a:pPr>
            <a:r>
              <a:rPr lang="en-US" sz="1400" dirty="0">
                <a:solidFill>
                  <a:srgbClr val="1A2B3C"/>
                </a:solidFill>
              </a:rPr>
              <a:t>Обеспечивает малое затухание сигнала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09981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▸  </a:t>
            </a:r>
            <a:pPr indent="0" marL="0">
              <a:buNone/>
            </a:pPr>
            <a:r>
              <a:rPr lang="en-US" sz="1400" dirty="0">
                <a:solidFill>
                  <a:srgbClr val="1A2B3C"/>
                </a:solidFill>
              </a:rPr>
              <a:t>Защита от электромагнитных помех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0040" y="3749040"/>
            <a:ext cx="8503920" cy="411480"/>
          </a:xfrm>
          <a:prstGeom prst="rect">
            <a:avLst/>
          </a:prstGeom>
          <a:solidFill>
            <a:srgbClr val="E8F4FD"/>
          </a:solidFill>
          <a:ln/>
        </p:spPr>
        <p:txBody>
          <a:bodyPr wrap="square" lIns="50800" tIns="127000" rIns="127000" bIns="508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</a:rPr>
              <a:t>Два основных типа: тонкий (RG-58, 5 мм) и толстый (RG-8, 10 мм)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Строение толстого коаксиального кабеля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8412480" cy="36576"/>
          </a:xfrm>
          <a:prstGeom prst="rect">
            <a:avLst/>
          </a:prstGeom>
          <a:solidFill>
            <a:srgbClr val="E8C8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886968"/>
            <a:ext cx="4389120" cy="41788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92040" y="1051560"/>
            <a:ext cx="164592" cy="594360"/>
          </a:xfrm>
          <a:prstGeom prst="rect">
            <a:avLst/>
          </a:prstGeom>
          <a:solidFill>
            <a:srgbClr val="E8C8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166360" y="1069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Внешняя оболочка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362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</a:rPr>
              <a:t>Жёлтый ПВХ-jacket, защита от среды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892040" y="1920240"/>
            <a:ext cx="164592" cy="59436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6636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Экранирующая оплётка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22311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</a:rPr>
              <a:t>Медь/алюминий, защита от помех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892040" y="2788920"/>
            <a:ext cx="164592" cy="59436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166360" y="2807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Диэлектрик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30998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</a:rPr>
              <a:t>Вспененный полиэтилен (ПЭ)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892040" y="3657600"/>
            <a:ext cx="164592" cy="594360"/>
          </a:xfrm>
          <a:prstGeom prst="rect">
            <a:avLst/>
          </a:prstGeom>
          <a:solidFill>
            <a:srgbClr val="CF6F2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663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Центральный проводник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39684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</a:rPr>
              <a:t>Медная жила диаметром ~2.17 мм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C84A"/>
                </a:solidFill>
              </a:rPr>
              <a:t>Диаметр кабеля: ~10 мм  •  Импеданс: 50 Ом  •  Марка: RG-8 / RG-11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</a:rPr>
              <a:t>Технические характеристики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4FC3F7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Параметр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Значение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Стандарт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65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10BASE5 (Ethernet)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Скорость передачи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Мбит/с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Волновое сопротивление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Ом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Внешний диаметр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~9.5 – 10.3 мм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Диаметр центр. проводника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 мм (медь)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Макс. длина сегмента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Макс. узлов на сегмент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Мин. расстояние между тройниками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Макс. длина AUI-кабеля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solidFill>
            <a:srgbClr val="FFF9E7"/>
          </a:solidFill>
          <a:ln/>
        </p:spPr>
        <p:txBody>
          <a:bodyPr wrap="square" lIns="38100" tIns="101600" rIns="1016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77777"/>
                </a:solidFill>
              </a:rPr>
              <a:t>Прозвище кабеля: "Жёлтый садовый шланг" (Yellow Garden Hose)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Применение толстого коаксиального кабеля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95528"/>
            <a:ext cx="8412480" cy="36576"/>
          </a:xfrm>
          <a:prstGeom prst="rect">
            <a:avLst/>
          </a:prstGeom>
          <a:solidFill>
            <a:srgbClr val="4FC3F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896112"/>
            <a:ext cx="8778240" cy="2926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9319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Первые локальные сети Ethernet (10BASE5, 1980-е)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159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Магистральные линии передачи ранних кампусных сетей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0001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Подключение через «вампирный кран» без разрыва кабеля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D1B2A"/>
                </a:solidFill>
              </a:rPr>
              <a:t>Преимущества и недостатки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987552"/>
            <a:ext cx="4160520" cy="3794760"/>
          </a:xfrm>
          <a:prstGeom prst="rect">
            <a:avLst/>
          </a:prstGeom>
          <a:solidFill>
            <a:srgbClr val="E8F5E9"/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5156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</a:rPr>
              <a:t>✔  Преимущества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5727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+ </a:t>
            </a:r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</a:rPr>
              <a:t>Большая длина сегмента (до 500 м)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16712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+ </a:t>
            </a:r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</a:rPr>
              <a:t>Высокая помехозащищённость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7614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+ </a:t>
            </a:r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</a:rPr>
              <a:t>Хорошая защита от внешних наводок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35584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+ </a:t>
            </a:r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</a:rPr>
              <a:t>Подключение без разрыва линии (вампирный кран)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9502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+ </a:t>
            </a:r>
            <a:pPr indent="0" marL="0">
              <a:buNone/>
            </a:pPr>
            <a:r>
              <a:rPr lang="en-US" sz="1400" dirty="0">
                <a:solidFill>
                  <a:srgbClr val="1B5E20"/>
                </a:solidFill>
              </a:rPr>
              <a:t>Надёжная работа в промышленных условиях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87552"/>
            <a:ext cx="4160520" cy="379476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05156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✘  Недостатки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5727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</a:rPr>
              <a:t>− </a:t>
            </a:r>
            <a:pPr indent="0" marL="0">
              <a:buNone/>
            </a:pPr>
            <a:r>
              <a:rPr lang="en-US" sz="1400" dirty="0">
                <a:solidFill>
                  <a:srgbClr val="B71C1C"/>
                </a:solidFill>
              </a:rPr>
              <a:t>Жёсткий и неудобный в прокладке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16712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</a:rPr>
              <a:t>− </a:t>
            </a:r>
            <a:pPr indent="0" marL="0">
              <a:buNone/>
            </a:pPr>
            <a:r>
              <a:rPr lang="en-US" sz="1400" dirty="0">
                <a:solidFill>
                  <a:srgbClr val="B71C1C"/>
                </a:solidFill>
              </a:rPr>
              <a:t>Высокая стоимость кабеля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7614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</a:rPr>
              <a:t>− </a:t>
            </a:r>
            <a:pPr indent="0" marL="0">
              <a:buNone/>
            </a:pPr>
            <a:r>
              <a:rPr lang="en-US" sz="1400" dirty="0">
                <a:solidFill>
                  <a:srgbClr val="B71C1C"/>
                </a:solidFill>
              </a:rPr>
              <a:t>Сложный монтаж (нужны спец. инструменты)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35584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</a:rPr>
              <a:t>− </a:t>
            </a:r>
            <a:pPr indent="0" marL="0">
              <a:buNone/>
            </a:pPr>
            <a:r>
              <a:rPr lang="en-US" sz="1400" dirty="0">
                <a:solidFill>
                  <a:srgbClr val="B71C1C"/>
                </a:solidFill>
              </a:rPr>
              <a:t>Шинная топология: отказ кабеля = отказ всей сети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9502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</a:rPr>
              <a:t>− </a:t>
            </a:r>
            <a:pPr indent="0" marL="0">
              <a:buNone/>
            </a:pPr>
            <a:r>
              <a:rPr lang="en-US" sz="1400" dirty="0">
                <a:solidFill>
                  <a:srgbClr val="B71C1C"/>
                </a:solidFill>
              </a:rPr>
              <a:t>Устарел — вытеснен витой парой и оптикой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C8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65776"/>
            <a:ext cx="9144000" cy="73152"/>
          </a:xfrm>
          <a:prstGeom prst="rect">
            <a:avLst/>
          </a:prstGeom>
          <a:solidFill>
            <a:srgbClr val="E8C8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Заключение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200400" y="960120"/>
            <a:ext cx="2743200" cy="36576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15568"/>
            <a:ext cx="640080" cy="548640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152144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2A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15214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Толстый коаксиальный кабель (10BASE5) был пионером технологии Ethernet и первых локальных сетей в 1980-х годах.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640080" cy="548640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066544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2A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06654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Кабель имеет характерную многослойную структуру: медная жила, диэлектрик, экранирующая оплётка и жёлтая ПВХ-оболочка.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944368"/>
            <a:ext cx="640080" cy="548640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980944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2A"/>
                </a:solidFill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98094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Обеспечивал скорость 10 Мбит/с на расстояние до 500 метров при шинной топологии сети.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58768"/>
            <a:ext cx="640080" cy="548640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95344"/>
            <a:ext cx="640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2A"/>
                </a:solidFill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89534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</a:rPr>
              <a:t>Несмотря на надёжность, вытеснен более дешёвой и гибкой витой парой и оптоволокном.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EC5"/>
                </a:solidFill>
              </a:rPr>
              <a:t>Воцуев Салах  •  Группа 2П1  •  Компьютерные сети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2026-10-31T08:14:31Z</dcterms:created>
  <dcterms:modified xsi:type="dcterms:W3CDTF">2026-10-31T08:14:31Z</dcterms:modified>
</cp:coreProperties>
</file>